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73152"/>
            <a:ext cx="11548872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100" b="1">
                <a:solidFill>
                  <a:srgbClr val="173B63"/>
                </a:solidFill>
                <a:latin typeface="Aptos"/>
              </a:defRPr>
            </a:pPr>
            <a:r>
              <a:t>Concept Map 1 — Cloud Computing Fundamentals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69080" y="621792"/>
            <a:ext cx="4069080" cy="65836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524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2000" b="1">
                <a:solidFill>
                  <a:srgbClr val="414141"/>
                </a:solidFill>
                <a:latin typeface="Aptos"/>
              </a:defRPr>
            </a:pPr>
            <a:r>
              <a:rPr dirty="0"/>
              <a:t>Cloud computing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03620" y="1280160"/>
            <a:ext cx="0" cy="347472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91640" y="1627632"/>
            <a:ext cx="8805672" cy="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91640" y="1627632"/>
            <a:ext cx="0" cy="521208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26280" y="1627632"/>
            <a:ext cx="0" cy="521208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06640" y="1627632"/>
            <a:ext cx="0" cy="521208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497312" y="1627632"/>
            <a:ext cx="0" cy="521208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2148840"/>
            <a:ext cx="2331720" cy="60350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700" b="1">
                <a:solidFill>
                  <a:srgbClr val="433C9B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Definition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148840"/>
            <a:ext cx="2331720" cy="60350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700" b="1">
                <a:solidFill>
                  <a:srgbClr val="433C9B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Characteristics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2148840"/>
            <a:ext cx="2331720" cy="603504"/>
          </a:xfrm>
          <a:prstGeom prst="roundRect">
            <a:avLst/>
          </a:prstGeom>
          <a:solidFill>
            <a:srgbClr val="E0F5EE"/>
          </a:solidFill>
          <a:ln w="15240">
            <a:solidFill>
              <a:srgbClr val="24A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700" b="1">
                <a:solidFill>
                  <a:srgbClr val="00644E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2148840"/>
            <a:ext cx="2331720" cy="603504"/>
          </a:xfrm>
          <a:prstGeom prst="roundRect">
            <a:avLst/>
          </a:prstGeom>
          <a:solidFill>
            <a:srgbClr val="FCEDE6"/>
          </a:solidFill>
          <a:ln w="15240">
            <a:solidFill>
              <a:srgbClr val="E07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700" b="1">
                <a:solidFill>
                  <a:srgbClr val="973919"/>
                </a:solidFill>
                <a:latin typeface="Aptos"/>
              </a:defRPr>
            </a:pPr>
            <a:r>
              <a:t>Limitations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68780" y="2752344"/>
            <a:ext cx="0" cy="338328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2648" y="3127248"/>
            <a:ext cx="2112263" cy="49377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433C9B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On-demand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" y="3785615"/>
            <a:ext cx="2112263" cy="49377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433C9B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Shared resource pool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4443983"/>
            <a:ext cx="2112263" cy="49377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433C9B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Minimal effort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20540" y="2752344"/>
            <a:ext cx="0" cy="338328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264408" y="3127248"/>
            <a:ext cx="2112263" cy="49377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433C9B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Self-service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64408" y="3785615"/>
            <a:ext cx="2112263" cy="49377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433C9B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Broad access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64408" y="4443983"/>
            <a:ext cx="2112263" cy="49377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433C9B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Resource pooling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64408" y="5102352"/>
            <a:ext cx="2112263" cy="49377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433C9B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Rapid elasticity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64408" y="5760720"/>
            <a:ext cx="2112263" cy="49377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433C9B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Measured service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3740" y="2752344"/>
            <a:ext cx="0" cy="338328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007608" y="3127248"/>
            <a:ext cx="2112263" cy="493776"/>
          </a:xfrm>
          <a:prstGeom prst="roundRect">
            <a:avLst/>
          </a:prstGeom>
          <a:solidFill>
            <a:srgbClr val="E0F5EE"/>
          </a:solidFill>
          <a:ln w="15240">
            <a:solidFill>
              <a:srgbClr val="24A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00644E"/>
                </a:solidFill>
                <a:latin typeface="Aptos"/>
              </a:defRPr>
            </a:pPr>
            <a:r>
              <a:t>Cost savings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07608" y="3785615"/>
            <a:ext cx="2112263" cy="493776"/>
          </a:xfrm>
          <a:prstGeom prst="roundRect">
            <a:avLst/>
          </a:prstGeom>
          <a:solidFill>
            <a:srgbClr val="E0F5EE"/>
          </a:solidFill>
          <a:ln w="15240">
            <a:solidFill>
              <a:srgbClr val="24A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00644E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07608" y="4443983"/>
            <a:ext cx="2112263" cy="493776"/>
          </a:xfrm>
          <a:prstGeom prst="roundRect">
            <a:avLst/>
          </a:prstGeom>
          <a:solidFill>
            <a:srgbClr val="E0F5EE"/>
          </a:solidFill>
          <a:ln w="15240">
            <a:solidFill>
              <a:srgbClr val="24A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00644E"/>
                </a:solidFill>
                <a:latin typeface="Aptos"/>
              </a:defRPr>
            </a:pPr>
            <a:r>
              <a:t>Accessibility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07608" y="5102352"/>
            <a:ext cx="2112263" cy="493776"/>
          </a:xfrm>
          <a:prstGeom prst="roundRect">
            <a:avLst/>
          </a:prstGeom>
          <a:solidFill>
            <a:srgbClr val="E0F5EE"/>
          </a:solidFill>
          <a:ln w="15240">
            <a:solidFill>
              <a:srgbClr val="24A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00644E"/>
                </a:solidFill>
                <a:latin typeface="Aptos"/>
              </a:defRPr>
            </a:pPr>
            <a:r>
              <a:t>Reliability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806940" y="2752344"/>
            <a:ext cx="0" cy="338328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750807" y="3127248"/>
            <a:ext cx="2112263" cy="493776"/>
          </a:xfrm>
          <a:prstGeom prst="roundRect">
            <a:avLst/>
          </a:prstGeom>
          <a:solidFill>
            <a:srgbClr val="FCEDE6"/>
          </a:solidFill>
          <a:ln w="15240">
            <a:solidFill>
              <a:srgbClr val="E07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973919"/>
                </a:solidFill>
                <a:latin typeface="Aptos"/>
              </a:defRPr>
            </a:pPr>
            <a:r>
              <a:t>Security risks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50807" y="3785615"/>
            <a:ext cx="2112263" cy="493776"/>
          </a:xfrm>
          <a:prstGeom prst="roundRect">
            <a:avLst/>
          </a:prstGeom>
          <a:solidFill>
            <a:srgbClr val="FCEDE6"/>
          </a:solidFill>
          <a:ln w="15240">
            <a:solidFill>
              <a:srgbClr val="E07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973919"/>
                </a:solidFill>
                <a:latin typeface="Aptos"/>
              </a:defRPr>
            </a:pPr>
            <a:r>
              <a:t>Internet reliance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50807" y="4443983"/>
            <a:ext cx="2112263" cy="493776"/>
          </a:xfrm>
          <a:prstGeom prst="roundRect">
            <a:avLst/>
          </a:prstGeom>
          <a:solidFill>
            <a:srgbClr val="FCEDE6"/>
          </a:solidFill>
          <a:ln w="15240">
            <a:solidFill>
              <a:srgbClr val="E07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973919"/>
                </a:solidFill>
                <a:latin typeface="Aptos"/>
              </a:defRPr>
            </a:pPr>
            <a:r>
              <a:t>Vendor lock-in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50807" y="5102352"/>
            <a:ext cx="2112263" cy="493776"/>
          </a:xfrm>
          <a:prstGeom prst="roundRect">
            <a:avLst/>
          </a:prstGeom>
          <a:solidFill>
            <a:srgbClr val="FCEDE6"/>
          </a:solidFill>
          <a:ln w="15240">
            <a:solidFill>
              <a:srgbClr val="E07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973919"/>
                </a:solidFill>
                <a:latin typeface="Aptos"/>
              </a:defRPr>
            </a:pPr>
            <a:r>
              <a:t>Less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73152"/>
            <a:ext cx="11548872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100" b="1">
                <a:solidFill>
                  <a:srgbClr val="173B63"/>
                </a:solidFill>
                <a:latin typeface="Aptos"/>
              </a:defRPr>
            </a:pPr>
            <a:r>
              <a:t>Concept Map 2 — Evolution of Cloud Computing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60520" y="502920"/>
            <a:ext cx="3886200" cy="566928"/>
          </a:xfrm>
          <a:prstGeom prst="roundRect">
            <a:avLst/>
          </a:prstGeom>
          <a:solidFill>
            <a:srgbClr val="F3F1E9"/>
          </a:solidFill>
          <a:ln w="15240">
            <a:solidFill>
              <a:srgbClr val="A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800" b="1">
                <a:solidFill>
                  <a:srgbClr val="414141"/>
                </a:solidFill>
                <a:latin typeface="Aptos"/>
              </a:defRPr>
            </a:pPr>
            <a:r>
              <a:t>Evolution of cloud computing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03620" y="1069848"/>
            <a:ext cx="0" cy="256032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68780" y="1325880"/>
            <a:ext cx="8773668" cy="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668780" y="1325880"/>
            <a:ext cx="0" cy="301752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1627632"/>
            <a:ext cx="2331720" cy="566928"/>
          </a:xfrm>
          <a:prstGeom prst="roundRect">
            <a:avLst/>
          </a:prstGeom>
          <a:solidFill>
            <a:srgbClr val="EEEDFF"/>
          </a:solidFill>
          <a:ln w="15240">
            <a:solidFill>
              <a:srgbClr val="74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433C9B"/>
                </a:solidFill>
                <a:latin typeface="Aptos"/>
              </a:defRPr>
            </a:pPr>
            <a:r>
              <a:t>Hardware</a:t>
            </a:r>
            <a:br/>
            <a:r>
              <a:t>evolution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68780" y="2194560"/>
            <a:ext cx="0" cy="219455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2423160"/>
            <a:ext cx="2331720" cy="566928"/>
          </a:xfrm>
          <a:prstGeom prst="roundRect">
            <a:avLst/>
          </a:prstGeom>
          <a:solidFill>
            <a:srgbClr val="EEEDFF"/>
          </a:solidFill>
          <a:ln w="15240">
            <a:solidFill>
              <a:srgbClr val="74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433C9B"/>
                </a:solidFill>
                <a:latin typeface="Aptos"/>
              </a:defRPr>
            </a:pPr>
            <a:r>
              <a:t>Mainframes</a:t>
            </a:r>
            <a:br/>
            <a:r>
              <a:t>centralized era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68780" y="2990088"/>
            <a:ext cx="0" cy="219456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3218688"/>
            <a:ext cx="2331720" cy="566928"/>
          </a:xfrm>
          <a:prstGeom prst="roundRect">
            <a:avLst/>
          </a:prstGeom>
          <a:solidFill>
            <a:srgbClr val="EEEDFF"/>
          </a:solidFill>
          <a:ln w="15240">
            <a:solidFill>
              <a:srgbClr val="74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433C9B"/>
                </a:solidFill>
                <a:latin typeface="Aptos"/>
              </a:defRPr>
            </a:pPr>
            <a:r>
              <a:t>PCs and servers</a:t>
            </a:r>
            <a:br/>
            <a:r>
              <a:t>client-server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68780" y="3785615"/>
            <a:ext cx="0" cy="219457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4014215"/>
            <a:ext cx="2331720" cy="566928"/>
          </a:xfrm>
          <a:prstGeom prst="roundRect">
            <a:avLst/>
          </a:prstGeom>
          <a:solidFill>
            <a:srgbClr val="EEEDFF"/>
          </a:solidFill>
          <a:ln w="15240">
            <a:solidFill>
              <a:srgbClr val="74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433C9B"/>
                </a:solidFill>
                <a:latin typeface="Aptos"/>
              </a:defRPr>
            </a:pPr>
            <a:r>
              <a:t>Multicore CPUs</a:t>
            </a:r>
            <a:br/>
            <a:r>
              <a:t>parallel power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68780" y="4581144"/>
            <a:ext cx="0" cy="219456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920" y="4809744"/>
            <a:ext cx="2331720" cy="566928"/>
          </a:xfrm>
          <a:prstGeom prst="roundRect">
            <a:avLst/>
          </a:prstGeom>
          <a:solidFill>
            <a:srgbClr val="EEEDFF"/>
          </a:solidFill>
          <a:ln w="15240">
            <a:solidFill>
              <a:srgbClr val="74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433C9B"/>
                </a:solidFill>
                <a:latin typeface="Aptos"/>
              </a:defRPr>
            </a:pPr>
            <a:r>
              <a:t>Data centers</a:t>
            </a:r>
            <a:br/>
            <a:r>
              <a:t>warehouse-scale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67428" y="1325880"/>
            <a:ext cx="0" cy="301752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01568" y="1627632"/>
            <a:ext cx="2331720" cy="566928"/>
          </a:xfrm>
          <a:prstGeom prst="roundRect">
            <a:avLst/>
          </a:prstGeom>
          <a:solidFill>
            <a:srgbClr val="E0F5EE"/>
          </a:solidFill>
          <a:ln w="15240">
            <a:solidFill>
              <a:srgbClr val="24A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00644E"/>
                </a:solidFill>
                <a:latin typeface="Aptos"/>
              </a:defRPr>
            </a:pPr>
            <a:r>
              <a:t>Internet</a:t>
            </a:r>
            <a:br/>
            <a:r>
              <a:t>software evolution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67428" y="2194560"/>
            <a:ext cx="0" cy="219455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401568" y="2423160"/>
            <a:ext cx="2331720" cy="566928"/>
          </a:xfrm>
          <a:prstGeom prst="roundRect">
            <a:avLst/>
          </a:prstGeom>
          <a:solidFill>
            <a:srgbClr val="E0F5EE"/>
          </a:solidFill>
          <a:ln w="15240">
            <a:solidFill>
              <a:srgbClr val="24A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00644E"/>
                </a:solidFill>
                <a:latin typeface="Aptos"/>
              </a:defRPr>
            </a:pPr>
            <a:r>
              <a:t>Web 1.0</a:t>
            </a:r>
            <a:br/>
            <a:r>
              <a:t>static pages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67428" y="2990088"/>
            <a:ext cx="0" cy="219456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401568" y="3218688"/>
            <a:ext cx="2331720" cy="566928"/>
          </a:xfrm>
          <a:prstGeom prst="roundRect">
            <a:avLst/>
          </a:prstGeom>
          <a:solidFill>
            <a:srgbClr val="E0F5EE"/>
          </a:solidFill>
          <a:ln w="15240">
            <a:solidFill>
              <a:srgbClr val="24A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00644E"/>
                </a:solidFill>
                <a:latin typeface="Aptos"/>
              </a:defRPr>
            </a:pPr>
            <a:r>
              <a:t>Web 2.0</a:t>
            </a:r>
            <a:br/>
            <a:r>
              <a:t>interactive apps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67428" y="3785615"/>
            <a:ext cx="0" cy="219457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401568" y="4014215"/>
            <a:ext cx="2331720" cy="566928"/>
          </a:xfrm>
          <a:prstGeom prst="roundRect">
            <a:avLst/>
          </a:prstGeom>
          <a:solidFill>
            <a:srgbClr val="E0F5EE"/>
          </a:solidFill>
          <a:ln w="15240">
            <a:solidFill>
              <a:srgbClr val="24A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00644E"/>
                </a:solidFill>
                <a:latin typeface="Aptos"/>
              </a:defRPr>
            </a:pPr>
            <a:r>
              <a:t>Web apps</a:t>
            </a:r>
            <a:br/>
            <a:r>
              <a:t>browser-based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67428" y="4581144"/>
            <a:ext cx="0" cy="219456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401568" y="4809744"/>
            <a:ext cx="2331720" cy="566928"/>
          </a:xfrm>
          <a:prstGeom prst="roundRect">
            <a:avLst/>
          </a:prstGeom>
          <a:solidFill>
            <a:srgbClr val="E0F5EE"/>
          </a:solidFill>
          <a:ln w="15240">
            <a:solidFill>
              <a:srgbClr val="24A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00644E"/>
                </a:solidFill>
                <a:latin typeface="Aptos"/>
              </a:defRPr>
            </a:pPr>
            <a:r>
              <a:t>APIs, mashups</a:t>
            </a:r>
            <a:br/>
            <a:r>
              <a:t>integration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466075" y="1325880"/>
            <a:ext cx="0" cy="301752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300216" y="1627632"/>
            <a:ext cx="2331720" cy="56692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524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973919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Distributed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systems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66075" y="2194560"/>
            <a:ext cx="0" cy="219455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300216" y="2423160"/>
            <a:ext cx="2331720" cy="56692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524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973919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Clusters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linked computers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466075" y="2990088"/>
            <a:ext cx="0" cy="219456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300216" y="3218688"/>
            <a:ext cx="2331720" cy="56692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524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973919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Grid computing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shared resources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466075" y="3785615"/>
            <a:ext cx="0" cy="219457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300216" y="4014215"/>
            <a:ext cx="2331720" cy="56692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524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973919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Utility model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pay per use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466075" y="4581144"/>
            <a:ext cx="0" cy="219456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300216" y="4809744"/>
            <a:ext cx="2331720" cy="56692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524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973919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Virtual pools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dynamic allocation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442448" y="1325880"/>
            <a:ext cx="0" cy="301752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198864" y="1627632"/>
            <a:ext cx="2487168" cy="56692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524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802546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Service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delivery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0442448" y="2194560"/>
            <a:ext cx="0" cy="219455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198864" y="2423160"/>
            <a:ext cx="2487168" cy="56692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524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802546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Time-sharing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shared mainframes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442448" y="2990088"/>
            <a:ext cx="0" cy="219456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9198864" y="3218688"/>
            <a:ext cx="2487168" cy="56692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524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802546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ASPs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hosted software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0442448" y="3785615"/>
            <a:ext cx="0" cy="219457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198864" y="4014215"/>
            <a:ext cx="2487168" cy="56692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524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802546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Web services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SOA, SOAP, REST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0442448" y="4581144"/>
            <a:ext cx="0" cy="219456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9198864" y="4809744"/>
            <a:ext cx="2487168" cy="56692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524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802546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Cloud services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IaaS, PaaS, SaaS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668780" y="5605272"/>
            <a:ext cx="8773668" cy="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668780" y="5376672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567428" y="5376672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7466075" y="5376672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442448" y="5376672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103620" y="5605272"/>
            <a:ext cx="0" cy="292608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4526280" y="5916168"/>
            <a:ext cx="3154680" cy="502920"/>
          </a:xfrm>
          <a:prstGeom prst="roundRect">
            <a:avLst/>
          </a:prstGeom>
          <a:solidFill>
            <a:srgbClr val="F3F1E9"/>
          </a:solidFill>
          <a:ln w="15240">
            <a:solidFill>
              <a:srgbClr val="A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600" b="1">
                <a:solidFill>
                  <a:srgbClr val="414141"/>
                </a:solidFill>
                <a:latin typeface="Aptos"/>
              </a:defRPr>
            </a:pPr>
            <a:r>
              <a:t>Cloud computing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73152"/>
            <a:ext cx="11548872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100" b="1">
                <a:solidFill>
                  <a:srgbClr val="173B63"/>
                </a:solidFill>
                <a:latin typeface="Aptos"/>
              </a:defRPr>
            </a:pPr>
            <a:r>
              <a:t>Concept Map 3 — Cloud Service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97680" y="411480"/>
            <a:ext cx="3611880" cy="566928"/>
          </a:xfrm>
          <a:prstGeom prst="roundRect">
            <a:avLst/>
          </a:prstGeom>
          <a:solidFill>
            <a:srgbClr val="F3F1E9"/>
          </a:solidFill>
          <a:ln w="15240">
            <a:solidFill>
              <a:srgbClr val="A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800" b="1">
                <a:solidFill>
                  <a:srgbClr val="414141"/>
                </a:solidFill>
                <a:latin typeface="Aptos"/>
              </a:defRPr>
            </a:pPr>
            <a:r>
              <a:t>Cloud service models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03620" y="978408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00784" y="1207008"/>
            <a:ext cx="8778240" cy="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700784" y="1207008"/>
            <a:ext cx="0" cy="237744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1444752"/>
            <a:ext cx="2395728" cy="566928"/>
          </a:xfrm>
          <a:prstGeom prst="roundRect">
            <a:avLst/>
          </a:prstGeom>
          <a:solidFill>
            <a:srgbClr val="EEEDFF"/>
          </a:solidFill>
          <a:ln w="15240">
            <a:solidFill>
              <a:srgbClr val="74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433C9B"/>
                </a:solidFill>
                <a:latin typeface="Aptos"/>
              </a:defRPr>
            </a:pPr>
            <a:r>
              <a:t>IaaS</a:t>
            </a:r>
            <a:br/>
            <a:r>
              <a:t>Infrastructure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00784" y="2011680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2267712"/>
            <a:ext cx="2395728" cy="9601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00644E"/>
                </a:solidFill>
                <a:latin typeface="Aptos"/>
              </a:defRPr>
            </a:pPr>
            <a:r>
              <a:rPr>
                <a:solidFill>
                  <a:schemeClr val="bg2">
                    <a:lumMod val="90000"/>
                  </a:schemeClr>
                </a:solidFill>
              </a:rPr>
              <a:t>Provider</a:t>
            </a:r>
            <a:br>
              <a:rPr>
                <a:solidFill>
                  <a:schemeClr val="bg2">
                    <a:lumMod val="90000"/>
                  </a:schemeClr>
                </a:solidFill>
              </a:rPr>
            </a:br>
            <a:r>
              <a:rPr>
                <a:solidFill>
                  <a:schemeClr val="bg2">
                    <a:lumMod val="90000"/>
                  </a:schemeClr>
                </a:solidFill>
              </a:rPr>
              <a:t>Hardware, network,</a:t>
            </a:r>
            <a:br>
              <a:rPr>
                <a:solidFill>
                  <a:schemeClr val="bg2">
                    <a:lumMod val="90000"/>
                  </a:schemeClr>
                </a:solidFill>
              </a:rPr>
            </a:br>
            <a:r>
              <a:rPr>
                <a:solidFill>
                  <a:schemeClr val="bg2">
                    <a:lumMod val="90000"/>
                  </a:schemeClr>
                </a:solidFill>
              </a:rPr>
              <a:t>storage, hypervisor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00784" y="3227832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3483864"/>
            <a:ext cx="2395728" cy="960120"/>
          </a:xfrm>
          <a:prstGeom prst="roundRect">
            <a:avLst/>
          </a:prstGeom>
          <a:solidFill>
            <a:srgbClr val="FCEDE6"/>
          </a:solidFill>
          <a:ln w="15240">
            <a:solidFill>
              <a:srgbClr val="E07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973919"/>
                </a:solidFill>
                <a:latin typeface="Aptos"/>
              </a:defRPr>
            </a:pPr>
            <a:r>
              <a:t>User</a:t>
            </a:r>
            <a:br/>
            <a:r>
              <a:t>OS, middleware,</a:t>
            </a:r>
            <a:br/>
            <a:r>
              <a:t>runtime, apps, 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00784" y="4443984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4700016"/>
            <a:ext cx="2395728" cy="530352"/>
          </a:xfrm>
          <a:prstGeom prst="roundRect">
            <a:avLst/>
          </a:prstGeom>
          <a:solidFill>
            <a:srgbClr val="F3F1E9"/>
          </a:solidFill>
          <a:ln w="15240">
            <a:solidFill>
              <a:srgbClr val="A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0">
                <a:solidFill>
                  <a:srgbClr val="6E6E6E"/>
                </a:solidFill>
                <a:latin typeface="Aptos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AWS EC2, Azure VMs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03620" y="978408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26864" y="1207008"/>
            <a:ext cx="0" cy="237744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429000" y="1444752"/>
            <a:ext cx="2395728" cy="566928"/>
          </a:xfrm>
          <a:prstGeom prst="roundRect">
            <a:avLst/>
          </a:prstGeom>
          <a:solidFill>
            <a:srgbClr val="EEEDFF"/>
          </a:solidFill>
          <a:ln w="15240">
            <a:solidFill>
              <a:srgbClr val="74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433C9B"/>
                </a:solidFill>
                <a:latin typeface="Aptos"/>
              </a:defRPr>
            </a:pPr>
            <a:r>
              <a:t>PaaS</a:t>
            </a:r>
            <a:br/>
            <a:r>
              <a:t>Platform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26864" y="2011680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429000" y="2267712"/>
            <a:ext cx="2395728" cy="9601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00644E"/>
                </a:solidFill>
                <a:latin typeface="Aptos"/>
              </a:defRPr>
            </a:pPr>
            <a:r>
              <a:rPr>
                <a:solidFill>
                  <a:schemeClr val="bg2">
                    <a:lumMod val="90000"/>
                  </a:schemeClr>
                </a:solidFill>
              </a:rPr>
              <a:t>Provider</a:t>
            </a:r>
            <a:br>
              <a:rPr>
                <a:solidFill>
                  <a:schemeClr val="bg2">
                    <a:lumMod val="90000"/>
                  </a:schemeClr>
                </a:solidFill>
              </a:rPr>
            </a:br>
            <a:r>
              <a:rPr>
                <a:solidFill>
                  <a:schemeClr val="bg2">
                    <a:lumMod val="90000"/>
                  </a:schemeClr>
                </a:solidFill>
              </a:rPr>
              <a:t>Infrastructure, OS,</a:t>
            </a:r>
            <a:br>
              <a:rPr>
                <a:solidFill>
                  <a:schemeClr val="bg2">
                    <a:lumMod val="90000"/>
                  </a:schemeClr>
                </a:solidFill>
              </a:rPr>
            </a:br>
            <a:r>
              <a:rPr>
                <a:solidFill>
                  <a:schemeClr val="bg2">
                    <a:lumMod val="90000"/>
                  </a:schemeClr>
                </a:solidFill>
              </a:rPr>
              <a:t>middleware, runtime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26864" y="3227832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429000" y="3483864"/>
            <a:ext cx="2395728" cy="960120"/>
          </a:xfrm>
          <a:prstGeom prst="roundRect">
            <a:avLst/>
          </a:prstGeom>
          <a:solidFill>
            <a:srgbClr val="FCEDE6"/>
          </a:solidFill>
          <a:ln w="15240">
            <a:solidFill>
              <a:srgbClr val="E07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973919"/>
                </a:solidFill>
                <a:latin typeface="Aptos"/>
              </a:defRPr>
            </a:pPr>
            <a:r>
              <a:t>User</a:t>
            </a:r>
            <a:br/>
            <a:r>
              <a:t>Applications</a:t>
            </a:r>
            <a:br/>
            <a:r>
              <a:t>and their data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26864" y="4443984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429000" y="4700016"/>
            <a:ext cx="2395728" cy="530352"/>
          </a:xfrm>
          <a:prstGeom prst="roundRect">
            <a:avLst/>
          </a:prstGeom>
          <a:solidFill>
            <a:srgbClr val="F3F1E9"/>
          </a:solidFill>
          <a:ln w="15240">
            <a:solidFill>
              <a:srgbClr val="A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0">
                <a:solidFill>
                  <a:srgbClr val="6E6E6E"/>
                </a:solidFill>
                <a:latin typeface="Aptos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Google App Engine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03620" y="978408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52944" y="1207008"/>
            <a:ext cx="0" cy="237744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355080" y="1444752"/>
            <a:ext cx="2395728" cy="566928"/>
          </a:xfrm>
          <a:prstGeom prst="roundRect">
            <a:avLst/>
          </a:prstGeom>
          <a:solidFill>
            <a:srgbClr val="EEEDFF"/>
          </a:solidFill>
          <a:ln w="15240">
            <a:solidFill>
              <a:srgbClr val="74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433C9B"/>
                </a:solidFill>
                <a:latin typeface="Aptos"/>
              </a:defRPr>
            </a:pPr>
            <a:r>
              <a:t>SaaS</a:t>
            </a:r>
            <a:br/>
            <a:r>
              <a:t>Software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552944" y="2011680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355080" y="2267712"/>
            <a:ext cx="2395728" cy="9601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00644E"/>
                </a:solidFill>
                <a:latin typeface="Aptos"/>
              </a:defRPr>
            </a:pPr>
            <a:r>
              <a:rPr>
                <a:solidFill>
                  <a:schemeClr val="bg2">
                    <a:lumMod val="90000"/>
                  </a:schemeClr>
                </a:solidFill>
              </a:rPr>
              <a:t>Provider</a:t>
            </a:r>
            <a:br>
              <a:rPr>
                <a:solidFill>
                  <a:schemeClr val="bg2">
                    <a:lumMod val="90000"/>
                  </a:schemeClr>
                </a:solidFill>
              </a:rPr>
            </a:br>
            <a:r>
              <a:rPr>
                <a:solidFill>
                  <a:schemeClr val="bg2">
                    <a:lumMod val="90000"/>
                  </a:schemeClr>
                </a:solidFill>
              </a:rPr>
              <a:t>Whole stack including</a:t>
            </a:r>
            <a:br>
              <a:rPr>
                <a:solidFill>
                  <a:schemeClr val="bg2">
                    <a:lumMod val="90000"/>
                  </a:schemeClr>
                </a:solidFill>
              </a:rPr>
            </a:br>
            <a:r>
              <a:rPr>
                <a:solidFill>
                  <a:schemeClr val="bg2">
                    <a:lumMod val="90000"/>
                  </a:schemeClr>
                </a:solidFill>
              </a:rPr>
              <a:t>the application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552944" y="3227832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355080" y="3483864"/>
            <a:ext cx="2395728" cy="960120"/>
          </a:xfrm>
          <a:prstGeom prst="roundRect">
            <a:avLst/>
          </a:prstGeom>
          <a:solidFill>
            <a:srgbClr val="FCEDE6"/>
          </a:solidFill>
          <a:ln w="15240">
            <a:solidFill>
              <a:srgbClr val="E07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973919"/>
                </a:solidFill>
                <a:latin typeface="Aptos"/>
              </a:defRPr>
            </a:pPr>
            <a:r>
              <a:t>User</a:t>
            </a:r>
            <a:br/>
            <a:r>
              <a:t>Configure settings,</a:t>
            </a:r>
            <a:br/>
            <a:r>
              <a:t>user access, data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552944" y="4443984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355080" y="4700016"/>
            <a:ext cx="2395728" cy="530352"/>
          </a:xfrm>
          <a:prstGeom prst="roundRect">
            <a:avLst/>
          </a:prstGeom>
          <a:solidFill>
            <a:srgbClr val="F3F1E9"/>
          </a:solidFill>
          <a:ln w="15240">
            <a:solidFill>
              <a:srgbClr val="A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0">
                <a:solidFill>
                  <a:srgbClr val="6E6E6E"/>
                </a:solidFill>
                <a:latin typeface="Aptos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Gmail, Salesforce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103620" y="978408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479024" y="1207008"/>
            <a:ext cx="0" cy="237744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281160" y="1444752"/>
            <a:ext cx="2395728" cy="566928"/>
          </a:xfrm>
          <a:prstGeom prst="roundRect">
            <a:avLst/>
          </a:prstGeom>
          <a:solidFill>
            <a:srgbClr val="EEEDFF"/>
          </a:solidFill>
          <a:ln w="15240">
            <a:solidFill>
              <a:srgbClr val="74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433C9B"/>
                </a:solidFill>
                <a:latin typeface="Aptos"/>
              </a:defRPr>
            </a:pPr>
            <a:r>
              <a:t>XaaS</a:t>
            </a:r>
            <a:br/>
            <a:r>
              <a:t>Anything as a service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479024" y="2011680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281160" y="2267712"/>
            <a:ext cx="2395728" cy="9601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524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00644E"/>
                </a:solidFill>
                <a:latin typeface="Aptos"/>
              </a:defRPr>
            </a:pPr>
            <a:r>
              <a:rPr>
                <a:solidFill>
                  <a:schemeClr val="bg2">
                    <a:lumMod val="90000"/>
                  </a:schemeClr>
                </a:solidFill>
              </a:rPr>
              <a:t>Provider</a:t>
            </a:r>
            <a:br>
              <a:rPr>
                <a:solidFill>
                  <a:schemeClr val="bg2">
                    <a:lumMod val="90000"/>
                  </a:schemeClr>
                </a:solidFill>
              </a:rPr>
            </a:br>
            <a:r>
              <a:rPr>
                <a:solidFill>
                  <a:schemeClr val="bg2">
                    <a:lumMod val="90000"/>
                  </a:schemeClr>
                </a:solidFill>
              </a:rPr>
              <a:t>Specific IT function</a:t>
            </a:r>
            <a:br>
              <a:rPr>
                <a:solidFill>
                  <a:schemeClr val="bg2">
                    <a:lumMod val="90000"/>
                  </a:schemeClr>
                </a:solidFill>
              </a:rPr>
            </a:br>
            <a:r>
              <a:rPr>
                <a:solidFill>
                  <a:schemeClr val="bg2">
                    <a:lumMod val="90000"/>
                  </a:schemeClr>
                </a:solidFill>
              </a:rPr>
              <a:t>provided as a service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479024" y="3227832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281160" y="3483864"/>
            <a:ext cx="2395728" cy="960120"/>
          </a:xfrm>
          <a:prstGeom prst="roundRect">
            <a:avLst/>
          </a:prstGeom>
          <a:solidFill>
            <a:srgbClr val="FCEDE6"/>
          </a:solidFill>
          <a:ln w="15240">
            <a:solidFill>
              <a:srgbClr val="E07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1">
                <a:solidFill>
                  <a:srgbClr val="973919"/>
                </a:solidFill>
                <a:latin typeface="Aptos"/>
              </a:defRPr>
            </a:pPr>
            <a:r>
              <a:t>User</a:t>
            </a:r>
            <a:br/>
            <a:r>
              <a:t>Consumes and configures</a:t>
            </a:r>
            <a:br/>
            <a:r>
              <a:t>what is needed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0479024" y="4443984"/>
            <a:ext cx="0" cy="22860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281160" y="4700016"/>
            <a:ext cx="2395728" cy="530352"/>
          </a:xfrm>
          <a:prstGeom prst="roundRect">
            <a:avLst/>
          </a:prstGeom>
          <a:solidFill>
            <a:srgbClr val="F3F1E9"/>
          </a:solidFill>
          <a:ln w="15240">
            <a:solidFill>
              <a:srgbClr val="A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100" b="0">
                <a:solidFill>
                  <a:srgbClr val="6E6E6E"/>
                </a:solidFill>
                <a:latin typeface="Aptos"/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DBaaS, FaaS, DaaS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73152"/>
            <a:ext cx="11548872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100" b="1">
                <a:solidFill>
                  <a:srgbClr val="173B63"/>
                </a:solidFill>
                <a:latin typeface="Aptos"/>
              </a:defRPr>
            </a:pPr>
            <a:r>
              <a:t>Concept Map 4 — Virtualization and Web Services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97680" y="411480"/>
            <a:ext cx="3611880" cy="566928"/>
          </a:xfrm>
          <a:prstGeom prst="roundRect">
            <a:avLst/>
          </a:prstGeom>
          <a:solidFill>
            <a:srgbClr val="F3F1E9"/>
          </a:solidFill>
          <a:ln w="15240">
            <a:solidFill>
              <a:srgbClr val="A0A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800" b="1">
                <a:solidFill>
                  <a:srgbClr val="414141"/>
                </a:solidFill>
                <a:latin typeface="Aptos"/>
              </a:defRPr>
            </a:pPr>
            <a:r>
              <a:t>Cloud computing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03620" y="978408"/>
            <a:ext cx="0" cy="283464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834640" y="1261872"/>
            <a:ext cx="5806440" cy="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34640" y="1261872"/>
            <a:ext cx="0" cy="265176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641080" y="1261872"/>
            <a:ext cx="0" cy="265176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1527048"/>
            <a:ext cx="3840480" cy="658368"/>
          </a:xfrm>
          <a:prstGeom prst="roundRect">
            <a:avLst/>
          </a:prstGeom>
          <a:solidFill>
            <a:srgbClr val="EEEDFF"/>
          </a:solidFill>
          <a:ln w="15240">
            <a:solidFill>
              <a:srgbClr val="74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433C9B"/>
                </a:solidFill>
                <a:latin typeface="Aptos"/>
              </a:defRPr>
            </a:pPr>
            <a:r>
              <a:t>Virtualization</a:t>
            </a:r>
            <a:br/>
            <a:r>
              <a:t>abstracts hardware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2185415"/>
            <a:ext cx="0" cy="210313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2395728"/>
            <a:ext cx="3840480" cy="658368"/>
          </a:xfrm>
          <a:prstGeom prst="roundRect">
            <a:avLst/>
          </a:prstGeom>
          <a:solidFill>
            <a:srgbClr val="EEEDFF"/>
          </a:solidFill>
          <a:ln w="15240">
            <a:solidFill>
              <a:srgbClr val="74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433C9B"/>
                </a:solidFill>
                <a:latin typeface="Aptos"/>
              </a:defRPr>
            </a:pPr>
            <a:r>
              <a:t>Hypervisor</a:t>
            </a:r>
            <a:br/>
            <a:r>
              <a:t>splits one server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34640" y="3054096"/>
            <a:ext cx="0" cy="210312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3264408"/>
            <a:ext cx="3840480" cy="658368"/>
          </a:xfrm>
          <a:prstGeom prst="roundRect">
            <a:avLst/>
          </a:prstGeom>
          <a:solidFill>
            <a:srgbClr val="EEEDFF"/>
          </a:solidFill>
          <a:ln w="15240">
            <a:solidFill>
              <a:srgbClr val="74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433C9B"/>
                </a:solidFill>
                <a:latin typeface="Aptos"/>
              </a:defRPr>
            </a:pPr>
            <a:r>
              <a:t>Virtual machines</a:t>
            </a:r>
            <a:br/>
            <a:r>
              <a:t>isolated and portable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34640" y="3922776"/>
            <a:ext cx="0" cy="210311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4133087"/>
            <a:ext cx="3840480" cy="658368"/>
          </a:xfrm>
          <a:prstGeom prst="roundRect">
            <a:avLst/>
          </a:prstGeom>
          <a:solidFill>
            <a:srgbClr val="EEEDFF"/>
          </a:solidFill>
          <a:ln w="15240">
            <a:solidFill>
              <a:srgbClr val="74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433C9B"/>
                </a:solidFill>
                <a:latin typeface="Aptos"/>
              </a:defRPr>
            </a:pPr>
            <a:r>
              <a:t>Resource pooling</a:t>
            </a:r>
            <a:br/>
            <a:r>
              <a:t>shared, multi-tenant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1527048"/>
            <a:ext cx="3840480" cy="658368"/>
          </a:xfrm>
          <a:prstGeom prst="roundRect">
            <a:avLst/>
          </a:prstGeom>
          <a:solidFill>
            <a:srgbClr val="E0F5EE"/>
          </a:solidFill>
          <a:ln w="15240">
            <a:solidFill>
              <a:srgbClr val="24A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00644E"/>
                </a:solidFill>
                <a:latin typeface="Aptos"/>
              </a:defRPr>
            </a:pPr>
            <a:r>
              <a:t>Web services</a:t>
            </a:r>
            <a:br/>
            <a:r>
              <a:t>standard interfaces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41080" y="2185415"/>
            <a:ext cx="0" cy="210313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720840" y="2395728"/>
            <a:ext cx="3840480" cy="658368"/>
          </a:xfrm>
          <a:prstGeom prst="roundRect">
            <a:avLst/>
          </a:prstGeom>
          <a:solidFill>
            <a:srgbClr val="E0F5EE"/>
          </a:solidFill>
          <a:ln w="15240">
            <a:solidFill>
              <a:srgbClr val="24A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00644E"/>
                </a:solidFill>
                <a:latin typeface="Aptos"/>
              </a:defRPr>
            </a:pPr>
            <a:r>
              <a:t>Standard protocols</a:t>
            </a:r>
            <a:br/>
            <a:r>
              <a:t>SOAP, REST, HTTP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41080" y="3054096"/>
            <a:ext cx="0" cy="210312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720840" y="3264408"/>
            <a:ext cx="3840480" cy="658368"/>
          </a:xfrm>
          <a:prstGeom prst="roundRect">
            <a:avLst/>
          </a:prstGeom>
          <a:solidFill>
            <a:srgbClr val="E0F5EE"/>
          </a:solidFill>
          <a:ln w="15240">
            <a:solidFill>
              <a:srgbClr val="24A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00644E"/>
                </a:solidFill>
                <a:latin typeface="Aptos"/>
              </a:defRPr>
            </a:pPr>
            <a:r>
              <a:t>Loose coupling</a:t>
            </a:r>
            <a:br/>
            <a:r>
              <a:t>platform independent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41080" y="3922776"/>
            <a:ext cx="0" cy="210311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20840" y="4133087"/>
            <a:ext cx="3840480" cy="658368"/>
          </a:xfrm>
          <a:prstGeom prst="roundRect">
            <a:avLst/>
          </a:prstGeom>
          <a:solidFill>
            <a:srgbClr val="E0F5EE"/>
          </a:solidFill>
          <a:ln w="15240">
            <a:solidFill>
              <a:srgbClr val="24A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00644E"/>
                </a:solidFill>
                <a:latin typeface="Aptos"/>
              </a:defRPr>
            </a:pPr>
            <a:r>
              <a:t>Automation APIs</a:t>
            </a:r>
            <a:br/>
            <a:r>
              <a:t>programmatic provisioning</a:t>
            </a:r>
          </a:p>
        </p:txBody>
      </p:sp>
      <p:cxnSp>
        <p:nvCxnSpPr>
          <p:cNvPr id="32" name="Connector 31"/>
          <p:cNvCxnSpPr>
            <a:cxnSpLocks/>
          </p:cNvCxnSpPr>
          <p:nvPr/>
        </p:nvCxnSpPr>
        <p:spPr>
          <a:xfrm>
            <a:off x="2834640" y="4791456"/>
            <a:ext cx="0" cy="466344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cxnSpLocks/>
          </p:cNvCxnSpPr>
          <p:nvPr/>
        </p:nvCxnSpPr>
        <p:spPr>
          <a:xfrm>
            <a:off x="8641080" y="4791456"/>
            <a:ext cx="0" cy="466344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314581" y="5257800"/>
            <a:ext cx="6696066" cy="804672"/>
          </a:xfrm>
          <a:prstGeom prst="roundRect">
            <a:avLst/>
          </a:prstGeom>
          <a:solidFill>
            <a:srgbClr val="FCEDE6"/>
          </a:solidFill>
          <a:ln w="15240">
            <a:solidFill>
              <a:srgbClr val="E07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600" b="1">
                <a:solidFill>
                  <a:srgbClr val="973919"/>
                </a:solidFill>
                <a:latin typeface="Aptos"/>
              </a:defRPr>
            </a:pPr>
            <a:r>
              <a:t>Deployment and scalability</a:t>
            </a:r>
            <a:br/>
            <a:r>
              <a:t>fast, elastic, interoperable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330</Words>
  <Application>Microsoft Office PowerPoint</Application>
  <PresentationFormat>Widescreen</PresentationFormat>
  <Paragraphs>74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BHARANI DHARAN</dc:creator>
  <cp:keywords/>
  <dc:description>generated using python-pptx</dc:description>
  <cp:lastModifiedBy>BHARANI DHARAN</cp:lastModifiedBy>
  <cp:revision>3</cp:revision>
  <dcterms:created xsi:type="dcterms:W3CDTF">2013-01-27T09:14:16Z</dcterms:created>
  <dcterms:modified xsi:type="dcterms:W3CDTF">2026-10-22T16:08:08Z</dcterms:modified>
  <cp:category/>
</cp:coreProperties>
</file>